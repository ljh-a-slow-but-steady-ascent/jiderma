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5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882127" y="-502920"/>
            <a:ext cx="4754880" cy="7498079"/>
          </a:xfrm>
          <a:prstGeom prst="rect">
            <a:avLst/>
          </a:prstGeom>
          <a:solidFill>
            <a:srgbClr val="1D4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66760" y="502920"/>
            <a:ext cx="3246120" cy="3246120"/>
          </a:xfrm>
          <a:prstGeom prst="ellipse">
            <a:avLst/>
          </a:prstGeom>
          <a:solidFill>
            <a:srgbClr val="2B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87968" y="1024128"/>
            <a:ext cx="2212848" cy="2212848"/>
          </a:xfrm>
          <a:prstGeom prst="ellipse">
            <a:avLst/>
          </a:prstGeom>
          <a:solidFill>
            <a:srgbClr val="E8BE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00032" y="1536192"/>
            <a:ext cx="1188720" cy="1188720"/>
          </a:xfrm>
          <a:prstGeom prst="ellipse">
            <a:avLst/>
          </a:prstGeom>
          <a:solidFill>
            <a:srgbClr val="F9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8183879" y="4087368"/>
            <a:ext cx="3429001" cy="164592"/>
          </a:xfrm>
          <a:prstGeom prst="line">
            <a:avLst/>
          </a:prstGeom>
          <a:ln w="12700">
            <a:solidFill>
              <a:srgbClr val="4E8B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8311896" y="4434840"/>
            <a:ext cx="3300984" cy="164592"/>
          </a:xfrm>
          <a:prstGeom prst="line">
            <a:avLst/>
          </a:prstGeom>
          <a:ln w="12700">
            <a:solidFill>
              <a:srgbClr val="4E8B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439911" y="4782312"/>
            <a:ext cx="3172969" cy="164592"/>
          </a:xfrm>
          <a:prstGeom prst="line">
            <a:avLst/>
          </a:prstGeom>
          <a:ln w="12700">
            <a:solidFill>
              <a:srgbClr val="4E8B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567928" y="5129784"/>
            <a:ext cx="3044952" cy="164592"/>
          </a:xfrm>
          <a:prstGeom prst="line">
            <a:avLst/>
          </a:prstGeom>
          <a:ln w="12700">
            <a:solidFill>
              <a:srgbClr val="4E8B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76656" y="475488"/>
            <a:ext cx="310896" cy="310896"/>
          </a:xfrm>
          <a:prstGeom prst="ellipse">
            <a:avLst/>
          </a:prstGeom>
          <a:solidFill>
            <a:srgbClr val="6F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484632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466344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96E1D8"/>
                </a:solidFill>
                <a:latin typeface="Aptos"/>
              </a:rPr>
              <a:t>  Jiderma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645920"/>
            <a:ext cx="653796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Noto Sans CJK SC"/>
              </a:defRPr>
            </a:pPr>
            <a:r>
              <a:t>霁肤 · Jiderma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32304"/>
            <a:ext cx="64008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C6E1DC"/>
                </a:solidFill>
                <a:latin typeface="Noto Sans CJK SC"/>
              </a:defRPr>
            </a:pPr>
            <a:r>
              <a:t>面向基层医疗的皮肤疾病辅助决策 Agent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3090672"/>
            <a:ext cx="1115568" cy="0"/>
          </a:xfrm>
          <a:prstGeom prst="line">
            <a:avLst/>
          </a:prstGeom>
          <a:ln w="38100">
            <a:solidFill>
              <a:srgbClr val="6FCB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3310128"/>
            <a:ext cx="6291072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Noto Sans CJK SC"/>
              </a:defRPr>
            </a:pPr>
            <a:r>
              <a:t>从图像识别走向多源证据融合，</a:t>
            </a:r>
            <a:br/>
            <a:r>
              <a:t>让初筛更清晰，让转诊更有依据。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956048"/>
            <a:ext cx="1225296" cy="283464"/>
          </a:xfrm>
          <a:prstGeom prst="roundRect">
            <a:avLst/>
          </a:prstGeom>
          <a:solidFill>
            <a:srgbClr val="285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69764"/>
            <a:ext cx="12252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C0E8E2"/>
                </a:solidFill>
                <a:latin typeface="Noto Sans CJK SC"/>
              </a:defRPr>
            </a:pPr>
            <a:r>
              <a:t>视觉基础模型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75688" y="4956048"/>
            <a:ext cx="1078992" cy="283464"/>
          </a:xfrm>
          <a:prstGeom prst="roundRect">
            <a:avLst/>
          </a:prstGeom>
          <a:solidFill>
            <a:srgbClr val="285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75688" y="4969764"/>
            <a:ext cx="107899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C0E8E2"/>
                </a:solidFill>
                <a:latin typeface="Noto Sans CJK SC"/>
              </a:defRPr>
            </a:pPr>
            <a:r>
              <a:t>本地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3552" y="4956048"/>
            <a:ext cx="1188720" cy="283464"/>
          </a:xfrm>
          <a:prstGeom prst="roundRect">
            <a:avLst/>
          </a:prstGeom>
          <a:solidFill>
            <a:srgbClr val="285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73552" y="4969764"/>
            <a:ext cx="11887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C0E8E2"/>
                </a:solidFill>
                <a:latin typeface="Noto Sans CJK SC"/>
              </a:defRPr>
            </a:pPr>
            <a:r>
              <a:t>受约束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81144" y="4956048"/>
            <a:ext cx="1078992" cy="283464"/>
          </a:xfrm>
          <a:prstGeom prst="roundRect">
            <a:avLst/>
          </a:prstGeom>
          <a:solidFill>
            <a:srgbClr val="285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81144" y="4969764"/>
            <a:ext cx="107899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C0E8E2"/>
                </a:solidFill>
                <a:latin typeface="Noto Sans CJK SC"/>
              </a:defRPr>
            </a:pPr>
            <a:r>
              <a:t>MCP 工具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98464"/>
            <a:ext cx="54864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4C7C4"/>
                </a:solidFill>
                <a:latin typeface="Noto Sans CJK SC"/>
              </a:defRPr>
            </a:pPr>
            <a:r>
              <a:t>阶段成果与未来发展汇报  · 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B3C5C7"/>
                </a:solidFill>
                <a:latin typeface="Noto Sans CJK SC"/>
              </a:defRPr>
            </a:pPr>
            <a:r>
              <a:t>霁＝雨后初晴，寓意拨云见日、恢复健康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B3C5C7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56032"/>
            <a:ext cx="310896" cy="31089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4688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82B38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267E7E"/>
                </a:solidFill>
                <a:latin typeface="Aptos"/>
              </a:rPr>
              <a:t>  Jiderma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2560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67E7E"/>
                </a:solidFill>
                <a:latin typeface="Aptos"/>
              </a:defRPr>
            </a:pPr>
            <a:r>
              <a:t>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B38"/>
                </a:solidFill>
                <a:latin typeface="Noto Sans CJK SC"/>
              </a:defRPr>
            </a:pPr>
            <a:r>
              <a:t>基层业务需求与政策窗口正在汇合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5448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6F828B"/>
                </a:solidFill>
                <a:latin typeface="Noto Sans CJK SC"/>
              </a:defRPr>
            </a:pPr>
            <a:r>
              <a:t>皮肤问题高频、专科资源分布不均；基层真正需要的是“能识别、会核验、可转诊”的连续支持。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6F828B"/>
                </a:solidFill>
                <a:latin typeface="Noto Sans CJK SC"/>
              </a:defRPr>
            </a:pPr>
            <a:r>
              <a:t>政策来源：国家卫健委《“十四五”全民健康信息化规划》、紧密型县域医共体建设指导意见、《人工智能+医疗卫生》实施意见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6F82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84831"/>
            <a:ext cx="3822191" cy="3986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32461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182B38"/>
                </a:solidFill>
                <a:latin typeface="Noto Sans CJK SC"/>
              </a:defRPr>
            </a:pPr>
            <a:r>
              <a:t>一线场景的三个断点</a:t>
            </a:r>
          </a:p>
        </p:txBody>
      </p:sp>
      <p:sp>
        <p:nvSpPr>
          <p:cNvPr id="12" name="Oval 11"/>
          <p:cNvSpPr/>
          <p:nvPr/>
        </p:nvSpPr>
        <p:spPr>
          <a:xfrm>
            <a:off x="841248" y="2962656"/>
            <a:ext cx="420624" cy="420624"/>
          </a:xfrm>
          <a:prstGeom prst="ellipse">
            <a:avLst/>
          </a:prstGeom>
          <a:solidFill>
            <a:srgbClr val="FA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999232"/>
            <a:ext cx="42062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D3665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2944368"/>
            <a:ext cx="777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82B38"/>
                </a:solidFill>
                <a:latin typeface="Noto Sans CJK SC"/>
              </a:defRPr>
            </a:pPr>
            <a:r>
              <a:t>看不准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44368"/>
            <a:ext cx="184708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6F828B"/>
                </a:solidFill>
                <a:latin typeface="Noto Sans CJK SC"/>
              </a:defRPr>
            </a:pPr>
            <a:r>
              <a:t>皮肤表现相似，单张图片难以覆盖病程与风险信号</a:t>
            </a:r>
          </a:p>
        </p:txBody>
      </p:sp>
      <p:sp>
        <p:nvSpPr>
          <p:cNvPr id="16" name="Oval 15"/>
          <p:cNvSpPr/>
          <p:nvPr/>
        </p:nvSpPr>
        <p:spPr>
          <a:xfrm>
            <a:off x="841248" y="3895344"/>
            <a:ext cx="420624" cy="420624"/>
          </a:xfrm>
          <a:prstGeom prst="ellipse">
            <a:avLst/>
          </a:prstGeom>
          <a:solidFill>
            <a:srgbClr val="F9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931920"/>
            <a:ext cx="42062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DB9F4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3877056"/>
            <a:ext cx="777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82B38"/>
                </a:solidFill>
                <a:latin typeface="Noto Sans CJK SC"/>
              </a:defRPr>
            </a:pPr>
            <a:r>
              <a:t>问不全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77056"/>
            <a:ext cx="184708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6F828B"/>
                </a:solidFill>
                <a:latin typeface="Noto Sans CJK SC"/>
              </a:defRPr>
            </a:pPr>
            <a:r>
              <a:t>基层问诊时间有限，症状与变化信息容易遗漏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828032"/>
            <a:ext cx="420624" cy="420624"/>
          </a:xfrm>
          <a:prstGeom prst="ellipse">
            <a:avLst/>
          </a:prstGeom>
          <a:solidFill>
            <a:srgbClr val="E5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4864608"/>
            <a:ext cx="420624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5397B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4809744"/>
            <a:ext cx="777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82B38"/>
                </a:solidFill>
                <a:latin typeface="Noto Sans CJK SC"/>
              </a:defRPr>
            </a:pPr>
            <a:r>
              <a:t>接不上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09744"/>
            <a:ext cx="184708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50" b="0">
                <a:solidFill>
                  <a:srgbClr val="6F828B"/>
                </a:solidFill>
                <a:latin typeface="Noto Sans CJK SC"/>
              </a:defRPr>
            </a:pPr>
            <a:r>
              <a:t>分类结果、指南依据与转诊行动常处于不同系统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2139696"/>
            <a:ext cx="6812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82B38"/>
                </a:solidFill>
                <a:latin typeface="Noto Sans CJK SC"/>
              </a:defRPr>
            </a:pPr>
            <a:r>
              <a:t>政策节奏：从数字化基层，到智能辅助广泛应用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10912" y="2907792"/>
            <a:ext cx="6190488" cy="0"/>
          </a:xfrm>
          <a:prstGeom prst="line">
            <a:avLst/>
          </a:prstGeom>
          <a:ln w="25400">
            <a:solidFill>
              <a:srgbClr val="B5D0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882896" y="2706624"/>
            <a:ext cx="402336" cy="40233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5464" y="3218688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85B5E"/>
                </a:solidFill>
                <a:latin typeface="Aptos"/>
              </a:defRPr>
            </a:pPr>
            <a:r>
              <a:t>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5464" y="3566160"/>
            <a:ext cx="16276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82B38"/>
                </a:solidFill>
                <a:latin typeface="Noto Sans CJK SC"/>
              </a:defRPr>
            </a:pPr>
            <a:r>
              <a:t>基层信息能力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5464" y="3959352"/>
            <a:ext cx="1755648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40" b="0">
                <a:solidFill>
                  <a:srgbClr val="6F828B"/>
                </a:solidFill>
                <a:latin typeface="Noto Sans CJK SC"/>
              </a:defRPr>
            </a:pPr>
            <a:r>
              <a:t>推动基层智能辅助诊断、线上复诊与转诊协同</a:t>
            </a:r>
          </a:p>
        </p:txBody>
      </p:sp>
      <p:sp>
        <p:nvSpPr>
          <p:cNvPr id="30" name="Oval 29"/>
          <p:cNvSpPr/>
          <p:nvPr/>
        </p:nvSpPr>
        <p:spPr>
          <a:xfrm>
            <a:off x="6839712" y="2706624"/>
            <a:ext cx="402336" cy="40233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3218688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85B5E"/>
                </a:solidFill>
                <a:latin typeface="Aptos"/>
              </a:defRPr>
            </a:pPr>
            <a:r>
              <a:t>2023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566160"/>
            <a:ext cx="16276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82B38"/>
                </a:solidFill>
                <a:latin typeface="Noto Sans CJK SC"/>
              </a:defRPr>
            </a:pPr>
            <a:r>
              <a:t>县域医共体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959352"/>
            <a:ext cx="1755648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40" b="0">
                <a:solidFill>
                  <a:srgbClr val="6F828B"/>
                </a:solidFill>
                <a:latin typeface="Noto Sans CJK SC"/>
              </a:defRPr>
            </a:pPr>
            <a:r>
              <a:t>县级强、乡级活、村级稳、上下联、信息通</a:t>
            </a:r>
          </a:p>
        </p:txBody>
      </p:sp>
      <p:sp>
        <p:nvSpPr>
          <p:cNvPr id="34" name="Oval 33"/>
          <p:cNvSpPr/>
          <p:nvPr/>
        </p:nvSpPr>
        <p:spPr>
          <a:xfrm>
            <a:off x="8796528" y="2706624"/>
            <a:ext cx="402336" cy="40233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69096" y="3218688"/>
            <a:ext cx="9144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185B5E"/>
                </a:solidFill>
                <a:latin typeface="Aptos"/>
              </a:defRPr>
            </a:pPr>
            <a:r>
              <a:t>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9096" y="3566160"/>
            <a:ext cx="162763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82B38"/>
                </a:solidFill>
                <a:latin typeface="Noto Sans CJK SC"/>
              </a:defRPr>
            </a:pPr>
            <a:r>
              <a:t>AI+医疗卫生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9096" y="3959352"/>
            <a:ext cx="1755648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40" b="0">
                <a:solidFill>
                  <a:srgbClr val="6F828B"/>
                </a:solidFill>
                <a:latin typeface="Noto Sans CJK SC"/>
              </a:defRPr>
            </a:pPr>
            <a:r>
              <a:t>专病模型与智能体、基层辅助诊疗进入规模化窗口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91456" y="5047488"/>
            <a:ext cx="6766560" cy="859536"/>
          </a:xfrm>
          <a:prstGeom prst="roundRect">
            <a:avLst/>
          </a:prstGeom>
          <a:solidFill>
            <a:srgbClr val="185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5248656"/>
            <a:ext cx="621792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SC"/>
              </a:rPr>
              <a:t>霁肤的落点：</a:t>
            </a:r>
            <a:r>
              <a:rPr sz="1400" b="0">
                <a:solidFill>
                  <a:srgbClr val="DAF0EC"/>
                </a:solidFill>
                <a:latin typeface="Noto Sans CJK SC"/>
              </a:rPr>
              <a:t>把专科能力封装为基层可用的筛查、证据与转诊工作流。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56032"/>
            <a:ext cx="310896" cy="31089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4688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82B38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267E7E"/>
                </a:solidFill>
                <a:latin typeface="Aptos"/>
              </a:rPr>
              <a:t>  Jiderma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2560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67E7E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B38"/>
                </a:solidFill>
                <a:latin typeface="Noto Sans CJK SC"/>
              </a:defRPr>
            </a:pPr>
            <a:r>
              <a:t>不是“给一个标签”，而是完成一次辅助决策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5448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6F828B"/>
                </a:solidFill>
                <a:latin typeface="Noto Sans CJK SC"/>
              </a:defRPr>
            </a:pPr>
            <a:r>
              <a:t>输入图像与主诉，系统组织视觉、症状、规则和指南证据，输出风险解释与下一步行动。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6F828B"/>
                </a:solidFill>
                <a:latin typeface="Noto Sans CJK SC"/>
              </a:defRPr>
            </a:pPr>
            <a:r>
              <a:t>辅助筛查与风险分级，不替代医生诊断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6F82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84831"/>
            <a:ext cx="3840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6F828B"/>
                </a:solidFill>
                <a:latin typeface="Noto Sans CJK SC"/>
              </a:defRPr>
            </a:pPr>
            <a:r>
              <a:t>传统图像分类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68880"/>
            <a:ext cx="3794760" cy="2724912"/>
          </a:xfrm>
          <a:prstGeom prst="roundRect">
            <a:avLst/>
          </a:prstGeom>
          <a:solidFill>
            <a:srgbClr val="F2F5F5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310896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3D515C"/>
                </a:solidFill>
                <a:latin typeface="Noto Sans CJK SC"/>
              </a:defRPr>
            </a:pPr>
            <a:r>
              <a:t>图片  →  Top-1 类别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447288"/>
            <a:ext cx="3063240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6F828B"/>
                </a:solidFill>
                <a:latin typeface="Noto Sans CJK SC"/>
              </a:defRPr>
            </a:pPr>
            <a:r>
              <a:t>缺少病程与症状语境</a:t>
            </a:r>
            <a:br/>
            <a:r>
              <a:t>缺少风险冲突判断</a:t>
            </a:r>
            <a:br/>
            <a:r>
              <a:t>缺少可追溯行动依据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084831"/>
            <a:ext cx="38404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267E7E"/>
                </a:solidFill>
                <a:latin typeface="Noto Sans CJK SC"/>
              </a:defRPr>
            </a:pPr>
            <a:r>
              <a:t>霁肤 · Jiderma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8304" y="2468880"/>
            <a:ext cx="6876288" cy="272491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67E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10912" y="3017520"/>
            <a:ext cx="640080" cy="640080"/>
          </a:xfrm>
          <a:prstGeom prst="ellipse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3145536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85B5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3858768"/>
            <a:ext cx="8595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B38"/>
                </a:solidFill>
                <a:latin typeface="Noto Sans CJK SC"/>
              </a:defRPr>
            </a:pPr>
            <a:r>
              <a:t>图像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4187952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6F828B"/>
                </a:solidFill>
                <a:latin typeface="Noto Sans CJK SC"/>
              </a:defRPr>
            </a:pPr>
            <a:r>
              <a:t>候选识别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05856" y="3346704"/>
            <a:ext cx="411480" cy="0"/>
          </a:xfrm>
          <a:prstGeom prst="line">
            <a:avLst/>
          </a:prstGeom>
          <a:ln w="15240">
            <a:solidFill>
              <a:srgbClr val="96B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263640" y="3017520"/>
            <a:ext cx="640080" cy="640080"/>
          </a:xfrm>
          <a:prstGeom prst="ellipse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145536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85B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53912" y="3858768"/>
            <a:ext cx="8595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B38"/>
                </a:solidFill>
                <a:latin typeface="Noto Sans CJK SC"/>
              </a:defRPr>
            </a:pPr>
            <a:r>
              <a:t>症状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4187952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6F828B"/>
                </a:solidFill>
                <a:latin typeface="Noto Sans CJK SC"/>
              </a:defRPr>
            </a:pPr>
            <a:r>
              <a:t>结构化核验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958583" y="3346704"/>
            <a:ext cx="411480" cy="0"/>
          </a:xfrm>
          <a:prstGeom prst="line">
            <a:avLst/>
          </a:prstGeom>
          <a:ln w="15240">
            <a:solidFill>
              <a:srgbClr val="96B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516368" y="3017520"/>
            <a:ext cx="640080" cy="640080"/>
          </a:xfrm>
          <a:prstGeom prst="ellipse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16368" y="3145536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85B5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858768"/>
            <a:ext cx="8595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B38"/>
                </a:solidFill>
                <a:latin typeface="Noto Sans CJK SC"/>
              </a:defRPr>
            </a:pPr>
            <a:r>
              <a:t>冲突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488" y="4187952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6F828B"/>
                </a:solidFill>
                <a:latin typeface="Noto Sans CJK SC"/>
              </a:defRPr>
            </a:pPr>
            <a:r>
              <a:t>风险升级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11312" y="3346704"/>
            <a:ext cx="411480" cy="0"/>
          </a:xfrm>
          <a:prstGeom prst="line">
            <a:avLst/>
          </a:prstGeom>
          <a:ln w="15240">
            <a:solidFill>
              <a:srgbClr val="96B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769096" y="3017520"/>
            <a:ext cx="640080" cy="640080"/>
          </a:xfrm>
          <a:prstGeom prst="ellipse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69096" y="3145536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85B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3858768"/>
            <a:ext cx="8595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B38"/>
                </a:solidFill>
                <a:latin typeface="Noto Sans CJK SC"/>
              </a:defRPr>
            </a:pPr>
            <a:r>
              <a:t>证据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86216" y="4187952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6F828B"/>
                </a:solidFill>
                <a:latin typeface="Noto Sans CJK SC"/>
              </a:defRPr>
            </a:pPr>
            <a:r>
              <a:t>指南检索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464040" y="3346704"/>
            <a:ext cx="411480" cy="0"/>
          </a:xfrm>
          <a:prstGeom prst="line">
            <a:avLst/>
          </a:prstGeom>
          <a:ln w="15240">
            <a:solidFill>
              <a:srgbClr val="96BE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021824" y="3017520"/>
            <a:ext cx="640080" cy="640080"/>
          </a:xfrm>
          <a:prstGeom prst="ellipse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21824" y="3145536"/>
            <a:ext cx="64008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185B5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2096" y="3858768"/>
            <a:ext cx="859536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B38"/>
                </a:solidFill>
                <a:latin typeface="Noto Sans CJK SC"/>
              </a:defRPr>
            </a:pPr>
            <a:r>
              <a:t>行动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38944" y="4187952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950" b="0">
                <a:solidFill>
                  <a:srgbClr val="6F828B"/>
                </a:solidFill>
                <a:latin typeface="Noto Sans CJK SC"/>
              </a:defRPr>
            </a:pPr>
            <a:r>
              <a:t>照护建议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31136" y="5541264"/>
            <a:ext cx="7735824" cy="530352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95728" y="5660136"/>
            <a:ext cx="7406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185B5E"/>
                </a:solidFill>
                <a:latin typeface="Noto Sans CJK SC"/>
              </a:defRPr>
            </a:pPr>
            <a:r>
              <a:t>核心价值：从“模型输出”跨越到“基层可执行的辅助决策”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56032"/>
            <a:ext cx="310896" cy="31089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4688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82B38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267E7E"/>
                </a:solidFill>
                <a:latin typeface="Aptos"/>
              </a:rPr>
              <a:t>  Jiderma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2560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67E7E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B38"/>
                </a:solidFill>
                <a:latin typeface="Noto Sans CJK SC"/>
              </a:defRPr>
            </a:pPr>
            <a:r>
              <a:t>轻量任务头验证：低成本激活专业视觉表征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5448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6F828B"/>
                </a:solidFill>
                <a:latin typeface="Noto Sans CJK SC"/>
              </a:defRPr>
            </a:pPr>
            <a:r>
              <a:t>冻结视觉 Backbone，仅训练 Linear Head；以较小训练成本验证下游任务迁移能力。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6F828B"/>
                </a:solidFill>
                <a:latin typeface="Noto Sans CJK SC"/>
              </a:defRPr>
            </a:pPr>
            <a:r>
              <a:t>辅助筛查与风险分级，不替代医生诊断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6F82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4663440" cy="3639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395728"/>
            <a:ext cx="40690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82B38"/>
                </a:solidFill>
                <a:latin typeface="Noto Sans CJK SC"/>
              </a:defRPr>
            </a:pPr>
            <a:r>
              <a:t>实验路径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2926080"/>
            <a:ext cx="310896" cy="310896"/>
          </a:xfrm>
          <a:prstGeom prst="ellipse">
            <a:avLst/>
          </a:prstGeom>
          <a:solidFill>
            <a:srgbClr val="53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939796"/>
            <a:ext cx="310896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921508"/>
            <a:ext cx="1920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182B38"/>
                </a:solidFill>
                <a:latin typeface="Noto Sans CJK SC"/>
              </a:defRPr>
            </a:pPr>
            <a:r>
              <a:t>专业视觉表征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" y="3566160"/>
            <a:ext cx="310896" cy="31089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579876"/>
            <a:ext cx="310896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561588"/>
            <a:ext cx="1920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182B38"/>
                </a:solidFill>
                <a:latin typeface="Noto Sans CJK SC"/>
              </a:defRPr>
            </a:pPr>
            <a:r>
              <a:t>冻结 Backbone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" y="4206240"/>
            <a:ext cx="310896" cy="310896"/>
          </a:xfrm>
          <a:prstGeom prst="ellipse">
            <a:avLst/>
          </a:prstGeom>
          <a:solidFill>
            <a:srgbClr val="DB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219955"/>
            <a:ext cx="310896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201668"/>
            <a:ext cx="1920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182B38"/>
                </a:solidFill>
                <a:latin typeface="Noto Sans CJK SC"/>
              </a:defRPr>
            </a:pPr>
            <a:r>
              <a:t>训练 Linear Head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" y="4846320"/>
            <a:ext cx="310896" cy="310896"/>
          </a:xfrm>
          <a:prstGeom prst="ellipse">
            <a:avLst/>
          </a:prstGeom>
          <a:solidFill>
            <a:srgbClr val="489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4860036"/>
            <a:ext cx="310896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841748"/>
            <a:ext cx="19202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182B38"/>
                </a:solidFill>
                <a:latin typeface="Noto Sans CJK SC"/>
              </a:defRPr>
            </a:pPr>
            <a:r>
              <a:t>独立测试评估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45536" y="2880360"/>
            <a:ext cx="1645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800" b="1">
                <a:solidFill>
                  <a:srgbClr val="5397BF"/>
                </a:solidFill>
                <a:latin typeface="Aptos"/>
              </a:defRPr>
            </a:pPr>
            <a:r>
              <a:t>768 维特征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45536" y="3675887"/>
            <a:ext cx="164592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2500" b="1">
                <a:solidFill>
                  <a:srgbClr val="185B5E"/>
                </a:solidFill>
                <a:latin typeface="Aptos"/>
              </a:defRPr>
            </a:pPr>
            <a:r>
              <a:t>5,383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45536" y="4133087"/>
            <a:ext cx="16459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0">
                <a:solidFill>
                  <a:srgbClr val="6F828B"/>
                </a:solidFill>
                <a:latin typeface="Noto Sans CJK SC"/>
              </a:defRPr>
            </a:pPr>
            <a:r>
              <a:t>可训练参数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2231136"/>
            <a:ext cx="21031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82B38"/>
                </a:solidFill>
                <a:latin typeface="Noto Sans CJK SC"/>
              </a:defRPr>
            </a:pPr>
            <a:r>
              <a:t>数据划分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14416" y="2907792"/>
            <a:ext cx="11887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6F828B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21424" y="2916936"/>
            <a:ext cx="3246120" cy="182880"/>
          </a:xfrm>
          <a:prstGeom prst="roundRect">
            <a:avLst/>
          </a:prstGeom>
          <a:solidFill>
            <a:srgbClr val="E7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21424" y="2916936"/>
            <a:ext cx="2600142" cy="182880"/>
          </a:xfrm>
          <a:prstGeom prst="roundRect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77856" y="2852928"/>
            <a:ext cx="7498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300" b="1">
                <a:solidFill>
                  <a:srgbClr val="182B38"/>
                </a:solidFill>
                <a:latin typeface="Aptos"/>
              </a:defRPr>
            </a:pPr>
            <a:r>
              <a:t>8,012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4416" y="3675888"/>
            <a:ext cx="11887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6F828B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21424" y="3685032"/>
            <a:ext cx="3246120" cy="182880"/>
          </a:xfrm>
          <a:prstGeom prst="roundRect">
            <a:avLst/>
          </a:prstGeom>
          <a:solidFill>
            <a:srgbClr val="E7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21424" y="3685032"/>
            <a:ext cx="162306" cy="182880"/>
          </a:xfrm>
          <a:prstGeom prst="roundRect">
            <a:avLst/>
          </a:prstGeom>
          <a:solidFill>
            <a:srgbClr val="DB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77856" y="3621024"/>
            <a:ext cx="7498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300" b="1">
                <a:solidFill>
                  <a:srgbClr val="182B38"/>
                </a:solidFill>
                <a:latin typeface="Aptos"/>
              </a:defRPr>
            </a:pPr>
            <a:r>
              <a:t>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14416" y="4443984"/>
            <a:ext cx="11887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6F828B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21424" y="4453128"/>
            <a:ext cx="3246120" cy="182880"/>
          </a:xfrm>
          <a:prstGeom prst="roundRect">
            <a:avLst/>
          </a:prstGeom>
          <a:solidFill>
            <a:srgbClr val="E7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21424" y="4453128"/>
            <a:ext cx="486918" cy="182880"/>
          </a:xfrm>
          <a:prstGeom prst="roundRect">
            <a:avLst/>
          </a:prstGeom>
          <a:solidFill>
            <a:srgbClr val="53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77856" y="4389120"/>
            <a:ext cx="7498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1300" b="1">
                <a:solidFill>
                  <a:srgbClr val="182B38"/>
                </a:solidFill>
                <a:latin typeface="Aptos"/>
              </a:defRPr>
            </a:pPr>
            <a:r>
              <a:t>1,503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96128" y="5349240"/>
            <a:ext cx="5623560" cy="475488"/>
          </a:xfrm>
          <a:prstGeom prst="roundRect">
            <a:avLst/>
          </a:prstGeom>
          <a:solidFill>
            <a:srgbClr val="E5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88152" y="5458968"/>
            <a:ext cx="5230368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5397BF"/>
                </a:solidFill>
                <a:latin typeface="Noto Sans CJK SC"/>
              </a:defRPr>
            </a:pPr>
            <a:r>
              <a:t>一套 Backbone，可继续扩展多病种与多任务头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56032"/>
            <a:ext cx="310896" cy="31089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4688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82B38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267E7E"/>
                </a:solidFill>
                <a:latin typeface="Aptos"/>
              </a:rPr>
              <a:t>  Jiderma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2560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67E7E"/>
                </a:solidFill>
                <a:latin typeface="Aptos"/>
              </a:defRPr>
            </a:pPr>
            <a:r>
              <a:t>MODEL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B38"/>
                </a:solidFill>
                <a:latin typeface="Noto Sans CJK SC"/>
              </a:defRPr>
            </a:pPr>
            <a:r>
              <a:t>从皮肤图像到结构化视觉证据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5448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6F828B"/>
                </a:solidFill>
                <a:latin typeface="Noto Sans CJK SC"/>
              </a:defRPr>
            </a:pPr>
            <a:r>
              <a:t>专业视觉基础模型负责表征，轻量任务头完成场景适配；最终候选交由决策平面继续核验。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6F828B"/>
                </a:solidFill>
                <a:latin typeface="Noto Sans CJK SC"/>
              </a:defRPr>
            </a:pPr>
            <a:r>
              <a:t>技术依据：DermFM-Zero-Open 本地代码与当前 HAM10000 线性任务头实现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6F82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011680"/>
            <a:ext cx="19202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67E7E"/>
                </a:solidFill>
                <a:latin typeface="Aptos"/>
              </a:defRPr>
            </a:pPr>
            <a:r>
              <a:t>INFERENCE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2331720"/>
            <a:ext cx="157276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T_8_15_8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542032"/>
            <a:ext cx="1225296" cy="12252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" y="3886200"/>
            <a:ext cx="1225296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B38"/>
                </a:solidFill>
                <a:latin typeface="Noto Sans CJK SC"/>
              </a:defRPr>
            </a:pPr>
            <a:r>
              <a:t>病灶图像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4169663"/>
            <a:ext cx="12984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750" b="0">
                <a:solidFill>
                  <a:srgbClr val="6F828B"/>
                </a:solidFill>
                <a:latin typeface="Aptos"/>
              </a:defRPr>
            </a:pPr>
            <a:r>
              <a:t>Resize → Crop → Normalize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85416" y="3364992"/>
            <a:ext cx="347472" cy="0"/>
          </a:xfrm>
          <a:prstGeom prst="line">
            <a:avLst/>
          </a:prstGeom>
          <a:ln w="21590">
            <a:solidFill>
              <a:srgbClr val="267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78608" y="2331720"/>
            <a:ext cx="2926080" cy="2176272"/>
          </a:xfrm>
          <a:prstGeom prst="roundRect">
            <a:avLst/>
          </a:prstGeom>
          <a:solidFill>
            <a:srgbClr val="185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16352" y="2569464"/>
            <a:ext cx="969264" cy="283464"/>
          </a:xfrm>
          <a:prstGeom prst="roundRect">
            <a:avLst/>
          </a:prstGeom>
          <a:solidFill>
            <a:srgbClr val="34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583180"/>
            <a:ext cx="969264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00" b="1">
                <a:solidFill>
                  <a:srgbClr val="D2EFEA"/>
                </a:solidFill>
                <a:latin typeface="Noto Sans CJK SC"/>
              </a:defRPr>
            </a:pPr>
            <a:r>
              <a:t>FROZEN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3035808"/>
            <a:ext cx="2459736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DermFM-Zero-Open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3438144"/>
            <a:ext cx="24688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C2E1DD"/>
                </a:solidFill>
                <a:latin typeface="Aptos"/>
              </a:defRPr>
            </a:pPr>
            <a:r>
              <a:t>Vision Transformer Encoder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867912"/>
            <a:ext cx="246888" cy="128016"/>
          </a:xfrm>
          <a:prstGeom prst="rect">
            <a:avLst/>
          </a:prstGeom>
          <a:solidFill>
            <a:srgbClr val="48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91256" y="3867912"/>
            <a:ext cx="246888" cy="128016"/>
          </a:xfrm>
          <a:prstGeom prst="rect">
            <a:avLst/>
          </a:prstGeom>
          <a:solidFill>
            <a:srgbClr val="488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47872" y="3867912"/>
            <a:ext cx="246888" cy="128016"/>
          </a:xfrm>
          <a:prstGeom prst="rect">
            <a:avLst/>
          </a:prstGeom>
          <a:solidFill>
            <a:srgbClr val="48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04487" y="3867912"/>
            <a:ext cx="246888" cy="128016"/>
          </a:xfrm>
          <a:prstGeom prst="rect">
            <a:avLst/>
          </a:prstGeom>
          <a:solidFill>
            <a:srgbClr val="489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3867912"/>
            <a:ext cx="246888" cy="128016"/>
          </a:xfrm>
          <a:prstGeom prst="rect">
            <a:avLst/>
          </a:prstGeom>
          <a:solidFill>
            <a:srgbClr val="48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3867912"/>
            <a:ext cx="246888" cy="128016"/>
          </a:xfrm>
          <a:prstGeom prst="rect">
            <a:avLst/>
          </a:prstGeom>
          <a:solidFill>
            <a:srgbClr val="489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34640" y="4087368"/>
            <a:ext cx="246888" cy="128016"/>
          </a:xfrm>
          <a:prstGeom prst="rect">
            <a:avLst/>
          </a:prstGeom>
          <a:solidFill>
            <a:srgbClr val="548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91256" y="4087368"/>
            <a:ext cx="246888" cy="128016"/>
          </a:xfrm>
          <a:prstGeom prst="rect">
            <a:avLst/>
          </a:prstGeom>
          <a:solidFill>
            <a:srgbClr val="548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47872" y="4087368"/>
            <a:ext cx="246888" cy="128016"/>
          </a:xfrm>
          <a:prstGeom prst="rect">
            <a:avLst/>
          </a:prstGeom>
          <a:solidFill>
            <a:srgbClr val="5491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04487" y="4087368"/>
            <a:ext cx="246888" cy="128016"/>
          </a:xfrm>
          <a:prstGeom prst="rect">
            <a:avLst/>
          </a:prstGeom>
          <a:solidFill>
            <a:srgbClr val="5494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61104" y="4087368"/>
            <a:ext cx="246888" cy="128016"/>
          </a:xfrm>
          <a:prstGeom prst="rect">
            <a:avLst/>
          </a:prstGeom>
          <a:solidFill>
            <a:srgbClr val="54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17720" y="4087368"/>
            <a:ext cx="246888" cy="128016"/>
          </a:xfrm>
          <a:prstGeom prst="rect">
            <a:avLst/>
          </a:prstGeom>
          <a:solidFill>
            <a:srgbClr val="549A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550408" y="3364992"/>
            <a:ext cx="329184" cy="0"/>
          </a:xfrm>
          <a:prstGeom prst="line">
            <a:avLst/>
          </a:prstGeom>
          <a:ln w="21590">
            <a:solidFill>
              <a:srgbClr val="267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925312" y="2331720"/>
            <a:ext cx="1463040" cy="2176272"/>
          </a:xfrm>
          <a:prstGeom prst="roundRect">
            <a:avLst/>
          </a:prstGeom>
          <a:solidFill>
            <a:srgbClr val="E5F0F7"/>
          </a:solidFill>
          <a:ln w="12700">
            <a:solidFill>
              <a:srgbClr val="539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2615184"/>
            <a:ext cx="1097280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5397BF"/>
                </a:solidFill>
                <a:latin typeface="Noto Sans CJK SC"/>
              </a:defRPr>
            </a:pPr>
            <a:r>
              <a:t>视觉表征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3136392"/>
            <a:ext cx="1115568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500" b="1">
                <a:solidFill>
                  <a:srgbClr val="182B38"/>
                </a:solidFill>
                <a:latin typeface="Aptos"/>
              </a:defRPr>
            </a:pPr>
            <a:r>
              <a:t>768-D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9904" y="3730752"/>
            <a:ext cx="113385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50" b="0">
                <a:solidFill>
                  <a:srgbClr val="6F828B"/>
                </a:solidFill>
                <a:latin typeface="Aptos"/>
              </a:defRPr>
            </a:pPr>
            <a:r>
              <a:t>L2-normalized</a:t>
            </a:r>
            <a:br/>
            <a:r>
              <a:t>embedding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34072" y="3364992"/>
            <a:ext cx="329184" cy="0"/>
          </a:xfrm>
          <a:prstGeom prst="line">
            <a:avLst/>
          </a:prstGeom>
          <a:ln w="21590">
            <a:solidFill>
              <a:srgbClr val="267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808975" y="2331720"/>
            <a:ext cx="1847088" cy="2176272"/>
          </a:xfrm>
          <a:prstGeom prst="roundRect">
            <a:avLst/>
          </a:prstGeom>
          <a:solidFill>
            <a:srgbClr val="F9F0DC"/>
          </a:solidFill>
          <a:ln w="12700">
            <a:solidFill>
              <a:srgbClr val="DB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28431" y="2569464"/>
            <a:ext cx="1371600" cy="283464"/>
          </a:xfrm>
          <a:prstGeom prst="roundRect">
            <a:avLst/>
          </a:prstGeom>
          <a:solidFill>
            <a:srgbClr val="F5E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28431" y="2583180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00" b="1">
                <a:solidFill>
                  <a:srgbClr val="AE731F"/>
                </a:solidFill>
                <a:latin typeface="Noto Sans CJK SC"/>
              </a:defRPr>
            </a:pPr>
            <a:r>
              <a:t>TRAINABLE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37575" y="3054096"/>
            <a:ext cx="1389888" cy="26517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182B38"/>
                </a:solidFill>
                <a:latin typeface="Aptos"/>
              </a:defRPr>
            </a:pPr>
            <a:r>
              <a:t>Linear Head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4" y="3474720"/>
            <a:ext cx="142646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DB9F43"/>
                </a:solidFill>
                <a:latin typeface="Aptos"/>
              </a:defRPr>
            </a:pPr>
            <a:r>
              <a:t>W · z + 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3904487"/>
            <a:ext cx="1499616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19" b="0">
                <a:solidFill>
                  <a:srgbClr val="6F828B"/>
                </a:solidFill>
                <a:latin typeface="Aptos"/>
              </a:defRPr>
            </a:pPr>
            <a:r>
              <a:t>768 → 7  ·  5,383 params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701784" y="3364992"/>
            <a:ext cx="320040" cy="0"/>
          </a:xfrm>
          <a:prstGeom prst="line">
            <a:avLst/>
          </a:prstGeom>
          <a:ln w="21590">
            <a:solidFill>
              <a:srgbClr val="267E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0067544" y="2331720"/>
            <a:ext cx="1517904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59568" y="2596896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182B38"/>
                </a:solidFill>
                <a:latin typeface="Noto Sans CJK SC"/>
              </a:defRPr>
            </a:pPr>
            <a:r>
              <a:t>候选输出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3848" y="3072384"/>
            <a:ext cx="4114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1">
                <a:solidFill>
                  <a:srgbClr val="6F828B"/>
                </a:solidFill>
                <a:latin typeface="Aptos"/>
              </a:defRPr>
            </a:pPr>
            <a:r>
              <a:t>Top-1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52760" y="3081528"/>
            <a:ext cx="694944" cy="109728"/>
          </a:xfrm>
          <a:prstGeom prst="roundRect">
            <a:avLst/>
          </a:prstGeom>
          <a:solidFill>
            <a:srgbClr val="E8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652760" y="3081528"/>
            <a:ext cx="653247" cy="109728"/>
          </a:xfrm>
          <a:prstGeom prst="roundRect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13848" y="3465576"/>
            <a:ext cx="4114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1">
                <a:solidFill>
                  <a:srgbClr val="6F828B"/>
                </a:solidFill>
                <a:latin typeface="Aptos"/>
              </a:defRPr>
            </a:pPr>
            <a:r>
              <a:t>Top-2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652760" y="3474720"/>
            <a:ext cx="694944" cy="109728"/>
          </a:xfrm>
          <a:prstGeom prst="roundRect">
            <a:avLst/>
          </a:prstGeom>
          <a:solidFill>
            <a:srgbClr val="E8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652760" y="3474720"/>
            <a:ext cx="361370" cy="109728"/>
          </a:xfrm>
          <a:prstGeom prst="roundRect">
            <a:avLst/>
          </a:prstGeom>
          <a:solidFill>
            <a:srgbClr val="53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13848" y="3858768"/>
            <a:ext cx="41148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1">
                <a:solidFill>
                  <a:srgbClr val="6F828B"/>
                </a:solidFill>
                <a:latin typeface="Aptos"/>
              </a:defRPr>
            </a:pPr>
            <a:r>
              <a:t>Top-3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652760" y="3867912"/>
            <a:ext cx="694944" cy="109728"/>
          </a:xfrm>
          <a:prstGeom prst="roundRect">
            <a:avLst/>
          </a:prstGeom>
          <a:solidFill>
            <a:srgbClr val="E8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0652760" y="3867912"/>
            <a:ext cx="194584" cy="109728"/>
          </a:xfrm>
          <a:prstGeom prst="roundRect">
            <a:avLst/>
          </a:prstGeom>
          <a:solidFill>
            <a:srgbClr val="DB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22992" y="4251960"/>
            <a:ext cx="118872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700" b="0">
                <a:solidFill>
                  <a:srgbClr val="6F828B"/>
                </a:solidFill>
                <a:latin typeface="Aptos"/>
              </a:defRPr>
            </a:pPr>
            <a:r>
              <a:t>temperature + abstention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85216" y="4882896"/>
            <a:ext cx="67939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5102352"/>
            <a:ext cx="114300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85B5E"/>
                </a:solidFill>
                <a:latin typeface="Noto Sans CJK SC"/>
              </a:defRPr>
            </a:pPr>
            <a:r>
              <a:t>训练策略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47088" y="5074920"/>
            <a:ext cx="52578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182B38"/>
                </a:solidFill>
                <a:latin typeface="Noto Sans CJK SC"/>
              </a:rPr>
              <a:t>冻结编码器</a:t>
            </a:r>
            <a:r>
              <a:rPr sz="1100" b="0">
                <a:solidFill>
                  <a:srgbClr val="6F828B"/>
                </a:solidFill>
                <a:latin typeface="Noto Sans CJK SC"/>
              </a:rPr>
              <a:t>  +  HAM10000 监督训练  +  </a:t>
            </a:r>
            <a:r>
              <a:rPr sz="1100" b="1">
                <a:solidFill>
                  <a:srgbClr val="182B38"/>
                </a:solidFill>
                <a:latin typeface="Noto Sans CJK SC"/>
              </a:rPr>
              <a:t>温度校准 / 拒识阈值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47088" y="5468112"/>
            <a:ext cx="514807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19" b="1">
                <a:solidFill>
                  <a:srgbClr val="5397BF"/>
                </a:solidFill>
                <a:latin typeface="Noto Sans CJK SC"/>
              </a:defRPr>
            </a:pPr>
            <a:r>
              <a:t>预训练表征：300万+皮肤图像表征学习，100万图文对齐样本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99248" y="4882896"/>
            <a:ext cx="3886200" cy="1051560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46136" y="5074920"/>
            <a:ext cx="1078992" cy="2468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185B5E"/>
                </a:solidFill>
                <a:latin typeface="Noto Sans CJK SC"/>
              </a:defRPr>
            </a:pPr>
            <a:r>
              <a:t>接口边界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5029200"/>
            <a:ext cx="2450592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80" b="1">
                <a:solidFill>
                  <a:srgbClr val="182B38"/>
                </a:solidFill>
                <a:latin typeface="Noto Sans CJK SC"/>
              </a:defRPr>
            </a:pPr>
            <a:r>
              <a:t>仅输出结构化视觉证据</a:t>
            </a:r>
            <a:br/>
            <a:r>
              <a:t>风险升级由症状与本地规则共同决定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56032"/>
            <a:ext cx="310896" cy="31089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4688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82B38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267E7E"/>
                </a:solidFill>
                <a:latin typeface="Aptos"/>
              </a:rPr>
              <a:t>  Jiderma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2560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67E7E"/>
                </a:solidFill>
                <a:latin typeface="Aptos"/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B38"/>
                </a:solidFill>
                <a:latin typeface="Noto Sans CJK SC"/>
              </a:defRPr>
            </a:pPr>
            <a:r>
              <a:t>HAM10000 下游任务已完成独立测试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5448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6F828B"/>
                </a:solidFill>
                <a:latin typeface="Noto Sans CJK SC"/>
              </a:defRPr>
            </a:pPr>
            <a:r>
              <a:t>实验覆盖训练日志、模型选择、测试指标、混淆矩阵与类别级表现。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6F828B"/>
                </a:solidFill>
                <a:latin typeface="Noto Sans CJK SC"/>
              </a:defRPr>
            </a:pPr>
            <a:r>
              <a:t>辅助筛查与风险分级，不替代医生诊断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6F82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103120"/>
            <a:ext cx="1773936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9424"/>
            <a:ext cx="1554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267E7E"/>
                </a:solidFill>
                <a:latin typeface="Aptos"/>
              </a:defRPr>
            </a:pPr>
            <a:r>
              <a:t>89.29%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" y="2688336"/>
            <a:ext cx="15910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50" b="1">
                <a:solidFill>
                  <a:srgbClr val="6F828B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2103120"/>
            <a:ext cx="1773936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2249424"/>
            <a:ext cx="1554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5397BF"/>
                </a:solidFill>
                <a:latin typeface="Aptos"/>
              </a:defRPr>
            </a:pPr>
            <a:r>
              <a:t>79.34%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688336"/>
            <a:ext cx="15910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50" b="1">
                <a:solidFill>
                  <a:srgbClr val="6F828B"/>
                </a:solidFill>
                <a:latin typeface="Aptos"/>
              </a:defRPr>
            </a:pPr>
            <a:r>
              <a:t>Balanced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2103120"/>
            <a:ext cx="1773936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2249424"/>
            <a:ext cx="1554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DB9F43"/>
                </a:solidFill>
                <a:latin typeface="Aptos"/>
              </a:defRPr>
            </a:pPr>
            <a:r>
              <a:t>80.98%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88336"/>
            <a:ext cx="1591056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850" b="1">
                <a:solidFill>
                  <a:srgbClr val="6F828B"/>
                </a:solidFill>
                <a:latin typeface="Aptos"/>
              </a:defRPr>
            </a:pPr>
            <a:r>
              <a:t>Macro-F1</a:t>
            </a:r>
          </a:p>
        </p:txBody>
      </p:sp>
      <p:pic>
        <p:nvPicPr>
          <p:cNvPr id="19" name="Picture 18" descr="training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9112"/>
            <a:ext cx="5303520" cy="390448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85216" y="3328416"/>
            <a:ext cx="5340096" cy="2615184"/>
          </a:xfrm>
          <a:prstGeom prst="roundRect">
            <a:avLst/>
          </a:prstGeom>
          <a:solidFill>
            <a:srgbClr val="185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639312"/>
            <a:ext cx="4754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Noto Sans CJK SC"/>
              </a:defRPr>
            </a:pPr>
            <a:r>
              <a:t>实验结论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123944"/>
            <a:ext cx="4645152" cy="11155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DCF0EC"/>
                </a:solidFill>
                <a:latin typeface="Noto Sans CJK SC"/>
              </a:defRPr>
            </a:pPr>
            <a:r>
              <a:t>专业视觉表征能够有效迁移到固定皮肤镜分类任务；</a:t>
            </a:r>
            <a:br/>
            <a:r>
              <a:t>轻量任务头使新任务适配更快、更节省算力，也更便于工程迭代。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5376672"/>
            <a:ext cx="1216152" cy="283464"/>
          </a:xfrm>
          <a:prstGeom prst="roundRect">
            <a:avLst/>
          </a:prstGeom>
          <a:solidFill>
            <a:srgbClr val="326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390388"/>
            <a:ext cx="121615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E0F3EF"/>
                </a:solidFill>
                <a:latin typeface="Noto Sans CJK SC"/>
              </a:defRPr>
            </a:pPr>
            <a:r>
              <a:t>冻结式迁移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49424" y="5376672"/>
            <a:ext cx="1216152" cy="283464"/>
          </a:xfrm>
          <a:prstGeom prst="roundRect">
            <a:avLst/>
          </a:prstGeom>
          <a:solidFill>
            <a:srgbClr val="326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9424" y="5390388"/>
            <a:ext cx="121615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E0F3EF"/>
                </a:solidFill>
                <a:latin typeface="Noto Sans CJK SC"/>
              </a:defRPr>
            </a:pPr>
            <a:r>
              <a:t>低训练成本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2736" y="5376672"/>
            <a:ext cx="1490472" cy="283464"/>
          </a:xfrm>
          <a:prstGeom prst="roundRect">
            <a:avLst/>
          </a:prstGeom>
          <a:solidFill>
            <a:srgbClr val="326D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2736" y="5390388"/>
            <a:ext cx="149047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E0F3EF"/>
                </a:solidFill>
                <a:latin typeface="Noto Sans CJK SC"/>
              </a:defRPr>
            </a:pPr>
            <a:r>
              <a:t>可扩展任务头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56032"/>
            <a:ext cx="310896" cy="31089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4688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82B38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267E7E"/>
                </a:solidFill>
                <a:latin typeface="Aptos"/>
              </a:rPr>
              <a:t>  Jiderma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2560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67E7E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B38"/>
                </a:solidFill>
                <a:latin typeface="Noto Sans CJK SC"/>
              </a:defRPr>
            </a:pPr>
            <a:r>
              <a:t>一次完整辅助决策，如何发生？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5448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6F828B"/>
                </a:solidFill>
                <a:latin typeface="Noto Sans CJK SC"/>
              </a:defRPr>
            </a:pPr>
            <a:r>
              <a:t>视觉提供候选，症状补全语境，规则守住风险边界，Agent 组织证据与表达。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6F828B"/>
                </a:solidFill>
                <a:latin typeface="Noto Sans CJK SC"/>
              </a:defRPr>
            </a:pPr>
            <a:r>
              <a:t>辅助筛查与风险分级，不替代医生诊断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6F82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95728"/>
            <a:ext cx="1627632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" y="2596896"/>
            <a:ext cx="393192" cy="393192"/>
          </a:xfrm>
          <a:prstGeom prst="ellipse">
            <a:avLst/>
          </a:prstGeom>
          <a:solidFill>
            <a:srgbClr val="E5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660904"/>
            <a:ext cx="393192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5397B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200400"/>
            <a:ext cx="1325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82B38"/>
                </a:solidFill>
                <a:latin typeface="Noto Sans CJK SC"/>
              </a:defRPr>
            </a:pPr>
            <a:r>
              <a:t>上传图像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639312"/>
            <a:ext cx="1307592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30" b="0">
                <a:solidFill>
                  <a:srgbClr val="6F828B"/>
                </a:solidFill>
                <a:latin typeface="Noto Sans CJK SC"/>
              </a:defRPr>
            </a:pPr>
            <a:r>
              <a:t>病灶图像 + 基本主诉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3355848"/>
            <a:ext cx="210312" cy="0"/>
          </a:xfrm>
          <a:prstGeom prst="line">
            <a:avLst/>
          </a:prstGeom>
          <a:ln w="16510">
            <a:solidFill>
              <a:srgbClr val="9BB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450592" y="2395728"/>
            <a:ext cx="1627632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596896" y="2596896"/>
            <a:ext cx="393192" cy="393192"/>
          </a:xfrm>
          <a:prstGeom prst="ellipse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96896" y="2660904"/>
            <a:ext cx="393192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267E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3200400"/>
            <a:ext cx="1325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82B38"/>
                </a:solidFill>
                <a:latin typeface="Noto Sans CJK SC"/>
              </a:defRPr>
            </a:pPr>
            <a:r>
              <a:t>视觉候选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3639312"/>
            <a:ext cx="1307592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30" b="0">
                <a:solidFill>
                  <a:srgbClr val="6F828B"/>
                </a:solidFill>
                <a:latin typeface="Noto Sans CJK SC"/>
              </a:defRPr>
            </a:pPr>
            <a:r>
              <a:t>疾病候选与相对分数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3355848"/>
            <a:ext cx="210312" cy="0"/>
          </a:xfrm>
          <a:prstGeom prst="line">
            <a:avLst/>
          </a:prstGeom>
          <a:ln w="16510">
            <a:solidFill>
              <a:srgbClr val="9BB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370832" y="2395728"/>
            <a:ext cx="1627632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17136" y="2596896"/>
            <a:ext cx="393192" cy="393192"/>
          </a:xfrm>
          <a:prstGeom prst="ellipse">
            <a:avLst/>
          </a:prstGeom>
          <a:solidFill>
            <a:srgbClr val="F9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2660904"/>
            <a:ext cx="393192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DB9F4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200400"/>
            <a:ext cx="1325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82B38"/>
                </a:solidFill>
                <a:latin typeface="Noto Sans CJK SC"/>
              </a:defRPr>
            </a:pPr>
            <a:r>
              <a:t>症状核验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3639312"/>
            <a:ext cx="1307592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30" b="0">
                <a:solidFill>
                  <a:srgbClr val="6F828B"/>
                </a:solidFill>
                <a:latin typeface="Noto Sans CJK SC"/>
              </a:defRPr>
            </a:pPr>
            <a:r>
              <a:t>病程、变化与红旗信号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35040" y="3355848"/>
            <a:ext cx="210312" cy="0"/>
          </a:xfrm>
          <a:prstGeom prst="line">
            <a:avLst/>
          </a:prstGeom>
          <a:ln w="16510">
            <a:solidFill>
              <a:srgbClr val="9BB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91072" y="2395728"/>
            <a:ext cx="1627632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37376" y="2596896"/>
            <a:ext cx="393192" cy="393192"/>
          </a:xfrm>
          <a:prstGeom prst="ellipse">
            <a:avLst/>
          </a:prstGeom>
          <a:solidFill>
            <a:srgbClr val="FA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2660904"/>
            <a:ext cx="393192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D3665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200400"/>
            <a:ext cx="1325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82B38"/>
                </a:solidFill>
                <a:latin typeface="Noto Sans CJK SC"/>
              </a:defRPr>
            </a:pPr>
            <a:r>
              <a:t>风险冲突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3639312"/>
            <a:ext cx="1307592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30" b="0">
                <a:solidFill>
                  <a:srgbClr val="6F828B"/>
                </a:solidFill>
                <a:latin typeface="Noto Sans CJK SC"/>
              </a:defRPr>
            </a:pPr>
            <a:r>
              <a:t>多源证据交叉判断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55280" y="3355848"/>
            <a:ext cx="210312" cy="0"/>
          </a:xfrm>
          <a:prstGeom prst="line">
            <a:avLst/>
          </a:prstGeom>
          <a:ln w="16510">
            <a:solidFill>
              <a:srgbClr val="9BB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211312" y="2395728"/>
            <a:ext cx="1627632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57616" y="2596896"/>
            <a:ext cx="393192" cy="393192"/>
          </a:xfrm>
          <a:prstGeom prst="ellipse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57616" y="2660904"/>
            <a:ext cx="393192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48906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57616" y="3200400"/>
            <a:ext cx="1325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82B38"/>
                </a:solidFill>
                <a:latin typeface="Noto Sans CJK SC"/>
              </a:defRPr>
            </a:pPr>
            <a:r>
              <a:t>指南检索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3639312"/>
            <a:ext cx="1307592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30" b="0">
                <a:solidFill>
                  <a:srgbClr val="6F828B"/>
                </a:solidFill>
                <a:latin typeface="Noto Sans CJK SC"/>
              </a:defRPr>
            </a:pPr>
            <a:r>
              <a:t>动态 Query + 本地 RAG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75520" y="3355848"/>
            <a:ext cx="210312" cy="0"/>
          </a:xfrm>
          <a:prstGeom prst="line">
            <a:avLst/>
          </a:prstGeom>
          <a:ln w="16510">
            <a:solidFill>
              <a:srgbClr val="9BB9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131552" y="2395728"/>
            <a:ext cx="1627632" cy="1956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277856" y="2596896"/>
            <a:ext cx="393192" cy="393192"/>
          </a:xfrm>
          <a:prstGeom prst="ellipse">
            <a:avLst/>
          </a:prstGeom>
          <a:solidFill>
            <a:srgbClr val="E5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77856" y="2660904"/>
            <a:ext cx="393192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5397B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77856" y="3200400"/>
            <a:ext cx="13258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182B38"/>
                </a:solidFill>
                <a:latin typeface="Noto Sans CJK SC"/>
              </a:defRPr>
            </a:pPr>
            <a:r>
              <a:t>建议生成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77856" y="3639312"/>
            <a:ext cx="1307592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30" b="0">
                <a:solidFill>
                  <a:srgbClr val="6F828B"/>
                </a:solidFill>
                <a:latin typeface="Noto Sans CJK SC"/>
              </a:defRPr>
            </a:pPr>
            <a:r>
              <a:t>解释、分级与照护路径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7280" y="4882896"/>
            <a:ext cx="10003536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53312" y="5102352"/>
            <a:ext cx="1874519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D36654"/>
                </a:solidFill>
                <a:latin typeface="Noto Sans CJK SC"/>
              </a:defRPr>
            </a:pPr>
            <a:r>
              <a:t>典型冲突场景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62656" y="5065776"/>
            <a:ext cx="7790688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182B38"/>
                </a:solidFill>
                <a:latin typeface="Noto Sans CJK SC"/>
              </a:rPr>
              <a:t>视觉候选偏向低风险  </a:t>
            </a:r>
            <a:r>
              <a:rPr sz="1200" b="1">
                <a:solidFill>
                  <a:srgbClr val="6F828B"/>
                </a:solidFill>
                <a:latin typeface="Noto Sans CJK SC"/>
              </a:rPr>
              <a:t>但</a:t>
            </a:r>
            <a:r>
              <a:rPr sz="1200" b="1">
                <a:solidFill>
                  <a:srgbClr val="D36654"/>
                </a:solidFill>
                <a:latin typeface="Noto Sans CJK SC"/>
              </a:rPr>
              <a:t> 近期快速增大 / 出血  </a:t>
            </a:r>
            <a:r>
              <a:rPr sz="1200" b="1">
                <a:solidFill>
                  <a:srgbClr val="185B5E"/>
                </a:solidFill>
                <a:latin typeface="Noto Sans CJK SC"/>
              </a:rPr>
              <a:t>→ 触发风险升级与定向指南检索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56032"/>
            <a:ext cx="310896" cy="31089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4688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82B38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267E7E"/>
                </a:solidFill>
                <a:latin typeface="Aptos"/>
              </a:rPr>
              <a:t>  Jiderma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2560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67E7E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B38"/>
                </a:solidFill>
                <a:latin typeface="Noto Sans CJK SC"/>
              </a:defRPr>
            </a:pPr>
            <a:r>
              <a:t>本地优先、双平面协同的系统架构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5448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6F828B"/>
                </a:solidFill>
                <a:latin typeface="Noto Sans CJK SC"/>
              </a:defRPr>
            </a:pPr>
            <a:r>
              <a:t>技术点到为止：Foundation Model · Linear Probe · Hybrid RAG · ReAct · MCP · PrivFlow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6F828B"/>
                </a:solidFill>
                <a:latin typeface="Noto Sans CJK SC"/>
              </a:defRPr>
            </a:pPr>
            <a:r>
              <a:t>辅助筛查与风险分级，不替代医生诊断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6F82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57400"/>
            <a:ext cx="1102766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1261872" cy="713232"/>
          </a:xfrm>
          <a:prstGeom prst="rect">
            <a:avLst/>
          </a:prstGeom>
          <a:solidFill>
            <a:srgbClr val="E5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231136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100" b="1">
                <a:solidFill>
                  <a:srgbClr val="5397BF"/>
                </a:solidFill>
                <a:latin typeface="Noto Sans CJK SC"/>
              </a:defRPr>
            </a:pPr>
            <a:r>
              <a:t>交互接入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48256" y="2258568"/>
            <a:ext cx="2139696" cy="283464"/>
          </a:xfrm>
          <a:prstGeom prst="roundRect">
            <a:avLst/>
          </a:prstGeom>
          <a:solidFill>
            <a:srgbClr val="E5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48256" y="2272284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5397BF"/>
                </a:solidFill>
                <a:latin typeface="Noto Sans CJK SC"/>
              </a:defRPr>
            </a:pPr>
            <a:r>
              <a:t>Streamlit Web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26864" y="2258568"/>
            <a:ext cx="2139696" cy="283464"/>
          </a:xfrm>
          <a:prstGeom prst="roundRect">
            <a:avLst/>
          </a:prstGeom>
          <a:solidFill>
            <a:srgbClr val="E5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2272284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5397BF"/>
                </a:solidFill>
                <a:latin typeface="Noto Sans CJK SC"/>
              </a:defRPr>
            </a:pPr>
            <a:r>
              <a:t>图像上传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5472" y="2258568"/>
            <a:ext cx="2139696" cy="283464"/>
          </a:xfrm>
          <a:prstGeom prst="roundRect">
            <a:avLst/>
          </a:prstGeom>
          <a:solidFill>
            <a:srgbClr val="E5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5472" y="2272284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5397BF"/>
                </a:solidFill>
                <a:latin typeface="Noto Sans CJK SC"/>
              </a:defRPr>
            </a:pPr>
            <a:r>
              <a:t>悬浮 ChatBox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35040" y="2788920"/>
            <a:ext cx="0" cy="155448"/>
          </a:xfrm>
          <a:prstGeom prst="line">
            <a:avLst/>
          </a:prstGeom>
          <a:ln w="15240">
            <a:solidFill>
              <a:srgbClr val="90B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" y="2962656"/>
            <a:ext cx="1102766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2962656"/>
            <a:ext cx="1261872" cy="713232"/>
          </a:xfrm>
          <a:prstGeom prst="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136392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100" b="1">
                <a:solidFill>
                  <a:srgbClr val="267E7E"/>
                </a:solidFill>
                <a:latin typeface="Noto Sans CJK SC"/>
              </a:defRPr>
            </a:pPr>
            <a:r>
              <a:t>业务服务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48256" y="3163824"/>
            <a:ext cx="2139696" cy="283464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48256" y="3177540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267E7E"/>
                </a:solidFill>
                <a:latin typeface="Noto Sans CJK SC"/>
              </a:defRPr>
            </a:pPr>
            <a:r>
              <a:t>FastAPI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3163824"/>
            <a:ext cx="2139696" cy="283464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177540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267E7E"/>
                </a:solidFill>
                <a:latin typeface="Noto Sans CJK SC"/>
              </a:defRPr>
            </a:pPr>
            <a:r>
              <a:t>病例状态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05472" y="3163824"/>
            <a:ext cx="2139696" cy="283464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2" y="3177540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267E7E"/>
                </a:solidFill>
                <a:latin typeface="Noto Sans CJK SC"/>
              </a:defRPr>
            </a:pPr>
            <a:r>
              <a:t>SQLite 审计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5040" y="3694176"/>
            <a:ext cx="0" cy="155448"/>
          </a:xfrm>
          <a:prstGeom prst="line">
            <a:avLst/>
          </a:prstGeom>
          <a:ln w="15240">
            <a:solidFill>
              <a:srgbClr val="90B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66928" y="3867912"/>
            <a:ext cx="1102766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3867912"/>
            <a:ext cx="1261872" cy="713232"/>
          </a:xfrm>
          <a:prstGeom prst="rect">
            <a:avLst/>
          </a:prstGeom>
          <a:solidFill>
            <a:srgbClr val="F9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41648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100" b="1">
                <a:solidFill>
                  <a:srgbClr val="DB9F43"/>
                </a:solidFill>
                <a:latin typeface="Noto Sans CJK SC"/>
              </a:defRPr>
            </a:pPr>
            <a:r>
              <a:t>决策平面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48256" y="4069080"/>
            <a:ext cx="2139696" cy="283464"/>
          </a:xfrm>
          <a:prstGeom prst="roundRect">
            <a:avLst/>
          </a:prstGeom>
          <a:solidFill>
            <a:srgbClr val="F9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48256" y="408279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DB9F43"/>
                </a:solidFill>
                <a:latin typeface="Noto Sans CJK SC"/>
              </a:defRPr>
            </a:pPr>
            <a:r>
              <a:t>视觉候选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26864" y="4069080"/>
            <a:ext cx="2139696" cy="283464"/>
          </a:xfrm>
          <a:prstGeom prst="roundRect">
            <a:avLst/>
          </a:prstGeom>
          <a:solidFill>
            <a:srgbClr val="F9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26864" y="408279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DB9F43"/>
                </a:solidFill>
                <a:latin typeface="Noto Sans CJK SC"/>
              </a:defRPr>
            </a:pPr>
            <a:r>
              <a:t>症状核验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5472" y="4069080"/>
            <a:ext cx="2139696" cy="283464"/>
          </a:xfrm>
          <a:prstGeom prst="roundRect">
            <a:avLst/>
          </a:prstGeom>
          <a:solidFill>
            <a:srgbClr val="F9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4082796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DB9F43"/>
                </a:solidFill>
                <a:latin typeface="Noto Sans CJK SC"/>
              </a:defRPr>
            </a:pPr>
            <a:r>
              <a:t>风险规则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35040" y="4599432"/>
            <a:ext cx="0" cy="155448"/>
          </a:xfrm>
          <a:prstGeom prst="line">
            <a:avLst/>
          </a:prstGeom>
          <a:ln w="15240">
            <a:solidFill>
              <a:srgbClr val="90B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6928" y="4773168"/>
            <a:ext cx="1102766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6928" y="4773168"/>
            <a:ext cx="1261872" cy="713232"/>
          </a:xfrm>
          <a:prstGeom prst="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946904"/>
            <a:ext cx="100584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100" b="1">
                <a:solidFill>
                  <a:srgbClr val="48906C"/>
                </a:solidFill>
                <a:latin typeface="Noto Sans CJK SC"/>
              </a:defRPr>
            </a:pPr>
            <a:r>
              <a:t>Agent 平面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48256" y="4974336"/>
            <a:ext cx="2139696" cy="283464"/>
          </a:xfrm>
          <a:prstGeom prst="round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48256" y="4988051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48906C"/>
                </a:solidFill>
                <a:latin typeface="Noto Sans CJK SC"/>
              </a:defRPr>
            </a:pPr>
            <a:r>
              <a:t>ReAct 规划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26864" y="4974336"/>
            <a:ext cx="2139696" cy="283464"/>
          </a:xfrm>
          <a:prstGeom prst="round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26864" y="4988051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48906C"/>
                </a:solidFill>
                <a:latin typeface="Noto Sans CJK SC"/>
              </a:defRPr>
            </a:pPr>
            <a:r>
              <a:t>MCP 工具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05472" y="4974336"/>
            <a:ext cx="2139696" cy="283464"/>
          </a:xfrm>
          <a:prstGeom prst="round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05472" y="4988051"/>
            <a:ext cx="2139696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000" b="1">
                <a:solidFill>
                  <a:srgbClr val="48906C"/>
                </a:solidFill>
                <a:latin typeface="Noto Sans CJK SC"/>
              </a:defRPr>
            </a:pPr>
            <a:r>
              <a:t>本地医学 RAG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19488" y="3172968"/>
            <a:ext cx="1572768" cy="1993392"/>
          </a:xfrm>
          <a:prstGeom prst="roundRect">
            <a:avLst/>
          </a:prstGeom>
          <a:solidFill>
            <a:srgbClr val="1F4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65792" y="3410712"/>
            <a:ext cx="12801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t>安全治理侧车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47504" y="3840480"/>
            <a:ext cx="130759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050" b="0">
                <a:solidFill>
                  <a:srgbClr val="CFE9E5"/>
                </a:solidFill>
                <a:latin typeface="Noto Sans CJK SC"/>
              </a:defRPr>
            </a:pPr>
            <a:r>
              <a:t>隐私脱敏</a:t>
            </a:r>
            <a:br/>
            <a:r>
              <a:t>出境检查</a:t>
            </a:r>
            <a:br/>
            <a:r>
              <a:t>来源追溯</a:t>
            </a:r>
            <a:br/>
            <a:r>
              <a:t>服务降级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5815584"/>
            <a:ext cx="108996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50" b="1">
                <a:solidFill>
                  <a:srgbClr val="185B5E"/>
                </a:solidFill>
                <a:latin typeface="Noto Sans CJK SC"/>
              </a:defRPr>
            </a:pPr>
            <a:r>
              <a:t>关键原则：LLM 负责检索规划与解释；风险分级由本地可审计规则约束。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56032"/>
            <a:ext cx="310896" cy="31089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4688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82B38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267E7E"/>
                </a:solidFill>
                <a:latin typeface="Aptos"/>
              </a:rPr>
              <a:t>  Jiderma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2560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67E7E"/>
                </a:solidFill>
                <a:latin typeface="Aptos"/>
              </a:defRPr>
            </a:pPr>
            <a:r>
              <a:t>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B38"/>
                </a:solidFill>
                <a:latin typeface="Noto Sans CJK SC"/>
              </a:defRPr>
            </a:pPr>
            <a:r>
              <a:t>差异化不在模型堆叠，而在决策链闭环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5448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6F828B"/>
                </a:solidFill>
                <a:latin typeface="Noto Sans CJK SC"/>
              </a:defRPr>
            </a:pPr>
            <a:r>
              <a:t>感知、证据、风险与行动被组织为同一条可追溯工作流。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6F828B"/>
                </a:solidFill>
                <a:latin typeface="Noto Sans CJK SC"/>
              </a:defRPr>
            </a:pPr>
            <a:r>
              <a:t>辅助筛查与风险分级，不替代医生诊断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6F82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2194560"/>
            <a:ext cx="3474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414015"/>
            <a:ext cx="402336" cy="402336"/>
          </a:xfrm>
          <a:prstGeom prst="ellipse">
            <a:avLst/>
          </a:prstGeom>
          <a:solidFill>
            <a:srgbClr val="E5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78024"/>
            <a:ext cx="40233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5397B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395728"/>
            <a:ext cx="24688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82B38"/>
                </a:solidFill>
                <a:latin typeface="Noto Sans CJK SC"/>
              </a:defRPr>
            </a:pPr>
            <a:r>
              <a:t>专业视觉底座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807208"/>
            <a:ext cx="2432304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69" b="0">
                <a:solidFill>
                  <a:srgbClr val="6F828B"/>
                </a:solidFill>
                <a:latin typeface="Noto Sans CJK SC"/>
              </a:defRPr>
            </a:pPr>
            <a:r>
              <a:t>从通用视觉理解转向皮肤场景表征，任务头可按业务扩展。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264" y="2194560"/>
            <a:ext cx="3474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99431" y="2414015"/>
            <a:ext cx="402336" cy="402336"/>
          </a:xfrm>
          <a:prstGeom prst="ellipse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1" y="2478024"/>
            <a:ext cx="40233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267E7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2395728"/>
            <a:ext cx="24688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82B38"/>
                </a:solidFill>
                <a:latin typeface="Noto Sans CJK SC"/>
              </a:defRPr>
            </a:pPr>
            <a:r>
              <a:t>多源证据融合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2807208"/>
            <a:ext cx="2432304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69" b="0">
                <a:solidFill>
                  <a:srgbClr val="6F828B"/>
                </a:solidFill>
                <a:latin typeface="Noto Sans CJK SC"/>
              </a:defRPr>
            </a:pPr>
            <a:r>
              <a:t>图像、症状、病程、风险规则和医学指南共同参与判断。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0456" y="2194560"/>
            <a:ext cx="34747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1624" y="2414015"/>
            <a:ext cx="402336" cy="402336"/>
          </a:xfrm>
          <a:prstGeom prst="ellipse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2478024"/>
            <a:ext cx="40233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48906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395728"/>
            <a:ext cx="24688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82B38"/>
                </a:solidFill>
                <a:latin typeface="Noto Sans CJK SC"/>
              </a:defRPr>
            </a:pPr>
            <a:r>
              <a:t>动态可追溯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8552" y="2807208"/>
            <a:ext cx="2432304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69" b="0">
                <a:solidFill>
                  <a:srgbClr val="6F828B"/>
                </a:solidFill>
                <a:latin typeface="Noto Sans CJK SC"/>
              </a:defRPr>
            </a:pPr>
            <a:r>
              <a:t>Agent 围绕信息缺口检索，并保留机构、章节与来源。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" y="3858768"/>
            <a:ext cx="541324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078224"/>
            <a:ext cx="402336" cy="402336"/>
          </a:xfrm>
          <a:prstGeom prst="ellipse">
            <a:avLst/>
          </a:prstGeom>
          <a:solidFill>
            <a:srgbClr val="F9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142231"/>
            <a:ext cx="40233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DB9F4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4059935"/>
            <a:ext cx="44074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82B38"/>
                </a:solidFill>
                <a:latin typeface="Noto Sans CJK SC"/>
              </a:defRPr>
            </a:pPr>
            <a:r>
              <a:t>受约束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44168" y="4471416"/>
            <a:ext cx="4370832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69" b="0">
                <a:solidFill>
                  <a:srgbClr val="6F828B"/>
                </a:solidFill>
                <a:latin typeface="Noto Sans CJK SC"/>
              </a:defRPr>
            </a:pPr>
            <a:r>
              <a:t>关键风险不交给自由生成，输出具备边界与审计能力。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858768"/>
            <a:ext cx="541324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64807" y="4078224"/>
            <a:ext cx="402336" cy="402336"/>
          </a:xfrm>
          <a:prstGeom prst="ellipse">
            <a:avLst/>
          </a:prstGeom>
          <a:solidFill>
            <a:srgbClr val="FAE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7" y="4142231"/>
            <a:ext cx="40233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D3665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31736" y="4059935"/>
            <a:ext cx="440740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182B38"/>
                </a:solidFill>
                <a:latin typeface="Noto Sans CJK SC"/>
              </a:defRPr>
            </a:pPr>
            <a:r>
              <a:t>轻量可落地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31736" y="4471416"/>
            <a:ext cx="4370832" cy="521207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69" b="0">
                <a:solidFill>
                  <a:srgbClr val="6F828B"/>
                </a:solidFill>
                <a:latin typeface="Noto Sans CJK SC"/>
              </a:defRPr>
            </a:pPr>
            <a:r>
              <a:t>本地优先、服务可降级，适配基层、社区与私有化部署。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26080" y="5696712"/>
            <a:ext cx="6345936" cy="429768"/>
          </a:xfrm>
          <a:prstGeom prst="roundRect">
            <a:avLst/>
          </a:prstGeom>
          <a:solidFill>
            <a:srgbClr val="185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27248" y="5788152"/>
            <a:ext cx="59436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识别 → 核验 → 检索 → 风险判断 → 行动建议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56032"/>
            <a:ext cx="310896" cy="310896"/>
          </a:xfrm>
          <a:prstGeom prst="ellipse">
            <a:avLst/>
          </a:prstGeom>
          <a:solidFill>
            <a:srgbClr val="6FC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4688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96E1D8"/>
                </a:solidFill>
                <a:latin typeface="Aptos"/>
              </a:rPr>
              <a:t>  Jiderma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841248"/>
            <a:ext cx="1078992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Noto Sans CJK SC"/>
              </a:defRPr>
            </a:pPr>
            <a:r>
              <a:t>产品演示 · 从一张图到一条照护路径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26464"/>
            <a:ext cx="10698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ADCDCB"/>
                </a:solidFill>
                <a:latin typeface="Noto Sans CJK SC"/>
              </a:defRPr>
            </a:pPr>
            <a:r>
              <a:t>预留视频位：建议插入 60–90 秒真实操作录屏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2029968"/>
            <a:ext cx="7498079" cy="3950208"/>
          </a:xfrm>
          <a:prstGeom prst="roundRect">
            <a:avLst/>
          </a:prstGeom>
          <a:solidFill>
            <a:srgbClr val="0D222A"/>
          </a:solidFill>
          <a:ln w="15240">
            <a:solidFill>
              <a:srgbClr val="487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12463" y="3246120"/>
            <a:ext cx="1298448" cy="1298448"/>
          </a:xfrm>
          <a:prstGeom prst="ellipse">
            <a:avLst/>
          </a:prstGeom>
          <a:solidFill>
            <a:srgbClr val="3785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4187952" y="3593592"/>
            <a:ext cx="365760" cy="438912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8" y="4956048"/>
            <a:ext cx="4645152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8BB0AF"/>
                </a:solidFill>
                <a:latin typeface="Aptos"/>
              </a:defRPr>
            </a:pPr>
            <a:r>
              <a:t>VIDEO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148840"/>
            <a:ext cx="30175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演示脚本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0" y="2743200"/>
            <a:ext cx="310896" cy="310896"/>
          </a:xfrm>
          <a:prstGeom prst="ellipse">
            <a:avLst/>
          </a:prstGeom>
          <a:solidFill>
            <a:srgbClr val="316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61488"/>
            <a:ext cx="31089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C1E6E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2734056"/>
            <a:ext cx="235915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DEEEEC"/>
                </a:solidFill>
                <a:latin typeface="Noto Sans CJK SC"/>
              </a:defRPr>
            </a:pPr>
            <a:r>
              <a:t>上传病灶图像</a:t>
            </a:r>
          </a:p>
        </p:txBody>
      </p:sp>
      <p:sp>
        <p:nvSpPr>
          <p:cNvPr id="15" name="Oval 14"/>
          <p:cNvSpPr/>
          <p:nvPr/>
        </p:nvSpPr>
        <p:spPr>
          <a:xfrm>
            <a:off x="8503920" y="3355848"/>
            <a:ext cx="310896" cy="310896"/>
          </a:xfrm>
          <a:prstGeom prst="ellipse">
            <a:avLst/>
          </a:prstGeom>
          <a:solidFill>
            <a:srgbClr val="316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374136"/>
            <a:ext cx="31089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C1E6E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42832" y="3346704"/>
            <a:ext cx="235915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DEEEEC"/>
                </a:solidFill>
                <a:latin typeface="Noto Sans CJK SC"/>
              </a:defRPr>
            </a:pPr>
            <a:r>
              <a:t>补充结构化症状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0" y="3968496"/>
            <a:ext cx="310896" cy="310896"/>
          </a:xfrm>
          <a:prstGeom prst="ellipse">
            <a:avLst/>
          </a:prstGeom>
          <a:solidFill>
            <a:srgbClr val="316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986783"/>
            <a:ext cx="31089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C1E6E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959352"/>
            <a:ext cx="235915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DEEEEC"/>
                </a:solidFill>
                <a:latin typeface="Noto Sans CJK SC"/>
              </a:defRPr>
            </a:pPr>
            <a:r>
              <a:t>查看候选与冲突判断</a:t>
            </a:r>
          </a:p>
        </p:txBody>
      </p:sp>
      <p:sp>
        <p:nvSpPr>
          <p:cNvPr id="21" name="Oval 20"/>
          <p:cNvSpPr/>
          <p:nvPr/>
        </p:nvSpPr>
        <p:spPr>
          <a:xfrm>
            <a:off x="8503920" y="4581144"/>
            <a:ext cx="310896" cy="310896"/>
          </a:xfrm>
          <a:prstGeom prst="ellipse">
            <a:avLst/>
          </a:prstGeom>
          <a:solidFill>
            <a:srgbClr val="316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599431"/>
            <a:ext cx="31089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C1E6E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4572000"/>
            <a:ext cx="235915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DEEEEC"/>
                </a:solidFill>
                <a:latin typeface="Noto Sans CJK SC"/>
              </a:defRPr>
            </a:pPr>
            <a:r>
              <a:t>追问风险与疾病知识</a:t>
            </a:r>
          </a:p>
        </p:txBody>
      </p:sp>
      <p:sp>
        <p:nvSpPr>
          <p:cNvPr id="24" name="Oval 23"/>
          <p:cNvSpPr/>
          <p:nvPr/>
        </p:nvSpPr>
        <p:spPr>
          <a:xfrm>
            <a:off x="8503920" y="5193792"/>
            <a:ext cx="310896" cy="310896"/>
          </a:xfrm>
          <a:prstGeom prst="ellipse">
            <a:avLst/>
          </a:prstGeom>
          <a:solidFill>
            <a:srgbClr val="316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5212079"/>
            <a:ext cx="31089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900" b="1">
                <a:solidFill>
                  <a:srgbClr val="C1E6E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42832" y="5184648"/>
            <a:ext cx="235915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defRPr sz="1100" b="1">
                <a:solidFill>
                  <a:srgbClr val="DEEEEC"/>
                </a:solidFill>
                <a:latin typeface="Noto Sans CJK SC"/>
              </a:defRPr>
            </a:pPr>
            <a:r>
              <a:t>获得证据化照护建议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B3C5C7"/>
                </a:solidFill>
                <a:latin typeface="Noto Sans CJK SC"/>
              </a:defRPr>
            </a:pPr>
            <a:r>
              <a:t>视频文件可在 PowerPoint 中替换该占位框后直接播放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B3C5C7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" y="256032"/>
            <a:ext cx="310896" cy="310896"/>
          </a:xfrm>
          <a:prstGeom prst="ellipse">
            <a:avLst/>
          </a:prstGeom>
          <a:solidFill>
            <a:srgbClr val="2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65176"/>
            <a:ext cx="310896" cy="26517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Noto Sans CJK SC"/>
              </a:defRPr>
            </a:pPr>
            <a:r>
              <a:t>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" y="246888"/>
            <a:ext cx="219456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82B38"/>
                </a:solidFill>
                <a:latin typeface="Noto Sans CJK SC"/>
              </a:rPr>
              <a:t>霁肤</a:t>
            </a:r>
            <a:r>
              <a:rPr sz="1050" b="1">
                <a:solidFill>
                  <a:srgbClr val="267E7E"/>
                </a:solidFill>
                <a:latin typeface="Aptos"/>
              </a:rPr>
              <a:t>  Jiderma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86384"/>
            <a:ext cx="25603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267E7E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05840"/>
            <a:ext cx="10972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600" b="1">
                <a:solidFill>
                  <a:srgbClr val="182B38"/>
                </a:solidFill>
                <a:latin typeface="Noto Sans CJK SC"/>
              </a:defRPr>
            </a:pPr>
            <a:r>
              <a:t>从可演示原型，走向基层皮肤智能服务平台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554480"/>
            <a:ext cx="106984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50" b="0">
                <a:solidFill>
                  <a:srgbClr val="6F828B"/>
                </a:solidFill>
                <a:latin typeface="Noto Sans CJK SC"/>
              </a:defRPr>
            </a:pPr>
            <a:r>
              <a:t>现有能力已经形成技术闭环；未来投入将主要转化为病种覆盖、临床协作与规模化交付。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28816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750" b="0">
                <a:solidFill>
                  <a:srgbClr val="6F828B"/>
                </a:solidFill>
                <a:latin typeface="Noto Sans CJK SC"/>
              </a:defRPr>
            </a:pPr>
            <a:r>
              <a:t>辅助筛查与风险分级，不替代医生诊断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0816" y="6483096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850" b="1">
                <a:solidFill>
                  <a:srgbClr val="6F82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267712"/>
            <a:ext cx="2505456" cy="2980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6384" y="2523744"/>
            <a:ext cx="713232" cy="283464"/>
          </a:xfrm>
          <a:prstGeom prst="roundRect">
            <a:avLst/>
          </a:prstGeom>
          <a:solidFill>
            <a:srgbClr val="E2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537460"/>
            <a:ext cx="7132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50" b="1">
                <a:solidFill>
                  <a:srgbClr val="267E7E"/>
                </a:solidFill>
                <a:latin typeface="Noto Sans CJK SC"/>
              </a:defRPr>
            </a:pPr>
            <a: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072384"/>
            <a:ext cx="20482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82B38"/>
                </a:solidFill>
                <a:latin typeface="Noto Sans CJK SC"/>
              </a:defRPr>
            </a:pPr>
            <a:r>
              <a:t>原型验证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730752"/>
            <a:ext cx="2066543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6F828B"/>
                </a:solidFill>
                <a:latin typeface="Noto Sans CJK SC"/>
              </a:defRPr>
            </a:pPr>
            <a:r>
              <a:t>视觉任务头</a:t>
            </a:r>
            <a:br/>
            <a:r>
              <a:t>结构化症状</a:t>
            </a:r>
            <a:br/>
            <a:r>
              <a:t>本地 RAG / Agent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27248" y="3767328"/>
            <a:ext cx="246888" cy="0"/>
          </a:xfrm>
          <a:prstGeom prst="line">
            <a:avLst/>
          </a:prstGeom>
          <a:ln w="19050">
            <a:solidFill>
              <a:srgbClr val="92B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38144" y="2267712"/>
            <a:ext cx="2505456" cy="2980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39312" y="2523744"/>
            <a:ext cx="713232" cy="283464"/>
          </a:xfrm>
          <a:prstGeom prst="roundRect">
            <a:avLst/>
          </a:prstGeom>
          <a:solidFill>
            <a:srgbClr val="E5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537460"/>
            <a:ext cx="7132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50" b="1">
                <a:solidFill>
                  <a:srgbClr val="5397BF"/>
                </a:solidFill>
                <a:latin typeface="Noto Sans CJK SC"/>
              </a:defRPr>
            </a:pPr>
            <a: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072384"/>
            <a:ext cx="20482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82B38"/>
                </a:solidFill>
                <a:latin typeface="Noto Sans CJK SC"/>
              </a:defRPr>
            </a:pPr>
            <a:r>
              <a:t>能力扩展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730752"/>
            <a:ext cx="2066543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6F828B"/>
                </a:solidFill>
                <a:latin typeface="Noto Sans CJK SC"/>
              </a:defRPr>
            </a:pPr>
            <a:r>
              <a:t>多病种任务头</a:t>
            </a:r>
            <a:br/>
            <a:r>
              <a:t>多视角病例理解</a:t>
            </a:r>
            <a:br/>
            <a:r>
              <a:t>病灶变化追踪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80176" y="3767328"/>
            <a:ext cx="246888" cy="0"/>
          </a:xfrm>
          <a:prstGeom prst="line">
            <a:avLst/>
          </a:prstGeom>
          <a:ln w="19050">
            <a:solidFill>
              <a:srgbClr val="92B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91072" y="2267712"/>
            <a:ext cx="2505456" cy="2980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2240" y="2523744"/>
            <a:ext cx="713232" cy="283464"/>
          </a:xfrm>
          <a:prstGeom prst="roundRect">
            <a:avLst/>
          </a:prstGeom>
          <a:solidFill>
            <a:srgbClr val="F9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537460"/>
            <a:ext cx="7132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50" b="1">
                <a:solidFill>
                  <a:srgbClr val="DB9F43"/>
                </a:solidFill>
                <a:latin typeface="Noto Sans CJK SC"/>
              </a:defRPr>
            </a:pPr>
            <a: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072384"/>
            <a:ext cx="20482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82B38"/>
                </a:solidFill>
                <a:latin typeface="Noto Sans CJK SC"/>
              </a:defRPr>
            </a:pPr>
            <a:r>
              <a:t>临床协作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30752"/>
            <a:ext cx="2066543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6F828B"/>
                </a:solidFill>
                <a:latin typeface="Noto Sans CJK SC"/>
              </a:defRPr>
            </a:pPr>
            <a:r>
              <a:t>医生工作台</a:t>
            </a:r>
            <a:br/>
            <a:r>
              <a:t>转诊材料生成</a:t>
            </a:r>
            <a:br/>
            <a:r>
              <a:t>区域知识更新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33104" y="3767328"/>
            <a:ext cx="246888" cy="0"/>
          </a:xfrm>
          <a:prstGeom prst="line">
            <a:avLst/>
          </a:prstGeom>
          <a:ln w="19050">
            <a:solidFill>
              <a:srgbClr val="92B7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0" y="2267712"/>
            <a:ext cx="2505456" cy="2980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45168" y="2523744"/>
            <a:ext cx="713232" cy="283464"/>
          </a:xfrm>
          <a:prstGeom prst="roundRect">
            <a:avLst/>
          </a:prstGeom>
          <a:solidFill>
            <a:srgbClr val="E8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2537460"/>
            <a:ext cx="713232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defRPr sz="850" b="1">
                <a:solidFill>
                  <a:srgbClr val="48906C"/>
                </a:solidFill>
                <a:latin typeface="Noto Sans CJK SC"/>
              </a:defRPr>
            </a:pPr>
            <a:r>
              <a:t>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3072384"/>
            <a:ext cx="204825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182B38"/>
                </a:solidFill>
                <a:latin typeface="Noto Sans CJK SC"/>
              </a:defRPr>
            </a:pPr>
            <a:r>
              <a:t>平台化落地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730752"/>
            <a:ext cx="2066543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6F828B"/>
                </a:solidFill>
                <a:latin typeface="Noto Sans CJK SC"/>
              </a:defRPr>
            </a:pPr>
            <a:r>
              <a:t>端侧 / 私有化部署</a:t>
            </a:r>
            <a:br/>
            <a:r>
              <a:t>连续随访管理</a:t>
            </a:r>
            <a:br/>
            <a:r>
              <a:t>县域协同网络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" y="5650992"/>
            <a:ext cx="9893808" cy="603504"/>
          </a:xfrm>
          <a:prstGeom prst="roundRect">
            <a:avLst/>
          </a:prstGeom>
          <a:solidFill>
            <a:srgbClr val="185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89888" y="5779008"/>
            <a:ext cx="9400032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CJK SC"/>
              </a:defRPr>
            </a:pPr>
            <a:r>
              <a:t>霁肤 · Jiderma  ——  让基层初筛看得更清，走得更稳。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霁肤 · Jiderma 项目汇报</dc:title>
  <dc:subject>面向基层医疗的皮肤疾病辅助决策 Agent</dc:subject>
  <dc:creator>Jiderma Project Team</dc:creator>
  <cp:keywords>Jiderma, 霁肤, 基层医疗, RAG, Agent, MCP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